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D314C4A-4A6C-4B7F-B1E6-4C3518C4AB6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1F50EA8-237B-48FD-8147-E76D19DB6D3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g object 16"/>
          <p:cNvSpPr/>
          <p:nvPr/>
        </p:nvSpPr>
        <p:spPr>
          <a:xfrm>
            <a:off x="0" y="689040"/>
            <a:ext cx="9144000" cy="46080"/>
          </a:xfrm>
          <a:custGeom>
            <a:avLst/>
            <a:gdLst/>
            <a:ahLst/>
            <a:cxnLst/>
            <a:rect l="l" t="t" r="r" b="b"/>
            <a:pathLst>
              <a:path w="9143365" h="45084">
                <a:moveTo>
                  <a:pt x="9143268" y="0"/>
                </a:moveTo>
                <a:lnTo>
                  <a:pt x="0" y="0"/>
                </a:lnTo>
                <a:lnTo>
                  <a:pt x="0" y="44988"/>
                </a:lnTo>
                <a:lnTo>
                  <a:pt x="4571634" y="44988"/>
                </a:lnTo>
                <a:lnTo>
                  <a:pt x="9143268" y="44988"/>
                </a:lnTo>
                <a:lnTo>
                  <a:pt x="9143268" y="0"/>
                </a:lnTo>
                <a:close/>
              </a:path>
            </a:pathLst>
          </a:custGeom>
          <a:solidFill>
            <a:srgbClr val="001F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bg object 17"/>
          <p:cNvSpPr/>
          <p:nvPr/>
        </p:nvSpPr>
        <p:spPr>
          <a:xfrm>
            <a:off x="0" y="689040"/>
            <a:ext cx="9144000" cy="46080"/>
          </a:xfrm>
          <a:custGeom>
            <a:avLst/>
            <a:gdLst/>
            <a:ahLst/>
            <a:cxnLst/>
            <a:rect l="l" t="t" r="r" b="b"/>
            <a:pathLst>
              <a:path w="9143365" h="45084">
                <a:moveTo>
                  <a:pt x="4571634" y="44988"/>
                </a:moveTo>
                <a:lnTo>
                  <a:pt x="0" y="44988"/>
                </a:lnTo>
                <a:lnTo>
                  <a:pt x="0" y="0"/>
                </a:lnTo>
                <a:lnTo>
                  <a:pt x="9143268" y="0"/>
                </a:lnTo>
                <a:lnTo>
                  <a:pt x="9143268" y="44988"/>
                </a:lnTo>
                <a:lnTo>
                  <a:pt x="4571634" y="44988"/>
                </a:lnTo>
                <a:close/>
              </a:path>
            </a:pathLst>
          </a:custGeom>
          <a:noFill/>
          <a:ln w="12600">
            <a:solidFill>
              <a:srgbClr val="1D30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bg object 18"/>
          <p:cNvSpPr/>
          <p:nvPr/>
        </p:nvSpPr>
        <p:spPr>
          <a:xfrm>
            <a:off x="0" y="6605640"/>
            <a:ext cx="9144000" cy="146160"/>
          </a:xfrm>
          <a:custGeom>
            <a:avLst/>
            <a:gdLst/>
            <a:ahLst/>
            <a:cxnLst/>
            <a:rect l="l" t="t" r="r" b="b"/>
            <a:pathLst>
              <a:path w="9143365" h="146684">
                <a:moveTo>
                  <a:pt x="9143268" y="0"/>
                </a:moveTo>
                <a:lnTo>
                  <a:pt x="4571634" y="0"/>
                </a:lnTo>
                <a:lnTo>
                  <a:pt x="0" y="0"/>
                </a:lnTo>
                <a:lnTo>
                  <a:pt x="0" y="146518"/>
                </a:lnTo>
                <a:lnTo>
                  <a:pt x="9143268" y="146518"/>
                </a:lnTo>
                <a:lnTo>
                  <a:pt x="9143268" y="0"/>
                </a:lnTo>
                <a:close/>
              </a:path>
            </a:pathLst>
          </a:custGeom>
          <a:solidFill>
            <a:srgbClr val="001F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bg object 19"/>
          <p:cNvSpPr/>
          <p:nvPr/>
        </p:nvSpPr>
        <p:spPr>
          <a:xfrm>
            <a:off x="0" y="6605640"/>
            <a:ext cx="9144000" cy="146160"/>
          </a:xfrm>
          <a:custGeom>
            <a:avLst/>
            <a:gdLst/>
            <a:ahLst/>
            <a:cxnLst/>
            <a:rect l="l" t="t" r="r" b="b"/>
            <a:pathLst>
              <a:path w="9143365" h="146684">
                <a:moveTo>
                  <a:pt x="4571634" y="0"/>
                </a:moveTo>
                <a:lnTo>
                  <a:pt x="9143268" y="0"/>
                </a:lnTo>
                <a:lnTo>
                  <a:pt x="9143268" y="146518"/>
                </a:lnTo>
                <a:lnTo>
                  <a:pt x="0" y="146518"/>
                </a:lnTo>
                <a:lnTo>
                  <a:pt x="0" y="0"/>
                </a:lnTo>
                <a:lnTo>
                  <a:pt x="4571634" y="0"/>
                </a:lnTo>
                <a:close/>
              </a:path>
            </a:pathLst>
          </a:custGeom>
          <a:noFill/>
          <a:ln w="12600">
            <a:solidFill>
              <a:srgbClr val="6F2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bg object 20"/>
          <p:cNvSpPr/>
          <p:nvPr/>
        </p:nvSpPr>
        <p:spPr>
          <a:xfrm>
            <a:off x="8899560" y="6435720"/>
            <a:ext cx="187200" cy="131760"/>
          </a:xfrm>
          <a:custGeom>
            <a:avLst/>
            <a:gdLst/>
            <a:ahLst/>
            <a:cxnLst/>
            <a:rect l="l" t="t" r="r" b="b"/>
            <a:pathLst>
              <a:path w="187959" h="131445">
                <a:moveTo>
                  <a:pt x="187909" y="0"/>
                </a:moveTo>
                <a:lnTo>
                  <a:pt x="0" y="0"/>
                </a:lnTo>
                <a:lnTo>
                  <a:pt x="0" y="131397"/>
                </a:lnTo>
                <a:lnTo>
                  <a:pt x="93939" y="131397"/>
                </a:lnTo>
                <a:lnTo>
                  <a:pt x="187909" y="131397"/>
                </a:lnTo>
                <a:lnTo>
                  <a:pt x="187909" y="0"/>
                </a:lnTo>
                <a:close/>
              </a:path>
            </a:pathLst>
          </a:custGeom>
          <a:solidFill>
            <a:srgbClr val="001F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bg object 21"/>
          <p:cNvSpPr/>
          <p:nvPr/>
        </p:nvSpPr>
        <p:spPr>
          <a:xfrm>
            <a:off x="8899560" y="6435720"/>
            <a:ext cx="187200" cy="131760"/>
          </a:xfrm>
          <a:custGeom>
            <a:avLst/>
            <a:gdLst/>
            <a:ahLst/>
            <a:cxnLst/>
            <a:rect l="l" t="t" r="r" b="b"/>
            <a:pathLst>
              <a:path w="187959" h="131445">
                <a:moveTo>
                  <a:pt x="93939" y="131397"/>
                </a:moveTo>
                <a:lnTo>
                  <a:pt x="0" y="131397"/>
                </a:lnTo>
                <a:lnTo>
                  <a:pt x="0" y="0"/>
                </a:lnTo>
                <a:lnTo>
                  <a:pt x="187909" y="0"/>
                </a:lnTo>
                <a:lnTo>
                  <a:pt x="187909" y="131397"/>
                </a:lnTo>
                <a:lnTo>
                  <a:pt x="93939" y="131397"/>
                </a:lnTo>
                <a:close/>
              </a:path>
            </a:pathLst>
          </a:custGeom>
          <a:noFill/>
          <a:ln w="12600">
            <a:solidFill>
              <a:srgbClr val="1D30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bg object 22"/>
          <p:cNvSpPr/>
          <p:nvPr/>
        </p:nvSpPr>
        <p:spPr>
          <a:xfrm>
            <a:off x="8345520" y="6426360"/>
            <a:ext cx="189000" cy="131760"/>
          </a:xfrm>
          <a:custGeom>
            <a:avLst/>
            <a:gdLst/>
            <a:ahLst/>
            <a:cxnLst/>
            <a:rect l="l" t="t" r="r" b="b"/>
            <a:pathLst>
              <a:path w="187959" h="131445">
                <a:moveTo>
                  <a:pt x="187909" y="0"/>
                </a:moveTo>
                <a:lnTo>
                  <a:pt x="0" y="0"/>
                </a:lnTo>
                <a:lnTo>
                  <a:pt x="0" y="131408"/>
                </a:lnTo>
                <a:lnTo>
                  <a:pt x="93969" y="131408"/>
                </a:lnTo>
                <a:lnTo>
                  <a:pt x="187909" y="131408"/>
                </a:lnTo>
                <a:lnTo>
                  <a:pt x="187909" y="0"/>
                </a:lnTo>
                <a:close/>
              </a:path>
            </a:pathLst>
          </a:custGeom>
          <a:solidFill>
            <a:srgbClr val="001F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bg object 23"/>
          <p:cNvSpPr/>
          <p:nvPr/>
        </p:nvSpPr>
        <p:spPr>
          <a:xfrm>
            <a:off x="8345520" y="6426360"/>
            <a:ext cx="189000" cy="131760"/>
          </a:xfrm>
          <a:custGeom>
            <a:avLst/>
            <a:gdLst/>
            <a:ahLst/>
            <a:cxnLst/>
            <a:rect l="l" t="t" r="r" b="b"/>
            <a:pathLst>
              <a:path w="187959" h="131445">
                <a:moveTo>
                  <a:pt x="93969" y="131408"/>
                </a:moveTo>
                <a:lnTo>
                  <a:pt x="0" y="131408"/>
                </a:lnTo>
                <a:lnTo>
                  <a:pt x="0" y="0"/>
                </a:lnTo>
                <a:lnTo>
                  <a:pt x="187909" y="0"/>
                </a:lnTo>
                <a:lnTo>
                  <a:pt x="187909" y="131408"/>
                </a:lnTo>
                <a:lnTo>
                  <a:pt x="93969" y="131408"/>
                </a:lnTo>
                <a:close/>
              </a:path>
            </a:pathLst>
          </a:custGeom>
          <a:noFill/>
          <a:ln w="12600">
            <a:solidFill>
              <a:srgbClr val="1D30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bg object 24"/>
          <p:cNvSpPr/>
          <p:nvPr/>
        </p:nvSpPr>
        <p:spPr>
          <a:xfrm>
            <a:off x="8621640" y="6426360"/>
            <a:ext cx="189000" cy="131760"/>
          </a:xfrm>
          <a:custGeom>
            <a:avLst/>
            <a:gdLst/>
            <a:ahLst/>
            <a:cxnLst/>
            <a:rect l="l" t="t" r="r" b="b"/>
            <a:pathLst>
              <a:path w="187959" h="131445">
                <a:moveTo>
                  <a:pt x="187909" y="0"/>
                </a:moveTo>
                <a:lnTo>
                  <a:pt x="0" y="0"/>
                </a:lnTo>
                <a:lnTo>
                  <a:pt x="0" y="131408"/>
                </a:lnTo>
                <a:lnTo>
                  <a:pt x="93939" y="131408"/>
                </a:lnTo>
                <a:lnTo>
                  <a:pt x="187909" y="131408"/>
                </a:lnTo>
                <a:lnTo>
                  <a:pt x="187909" y="0"/>
                </a:lnTo>
                <a:close/>
              </a:path>
            </a:pathLst>
          </a:custGeom>
          <a:solidFill>
            <a:srgbClr val="001F5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bg object 25"/>
          <p:cNvSpPr/>
          <p:nvPr/>
        </p:nvSpPr>
        <p:spPr>
          <a:xfrm>
            <a:off x="8621640" y="6426360"/>
            <a:ext cx="189000" cy="131760"/>
          </a:xfrm>
          <a:custGeom>
            <a:avLst/>
            <a:gdLst/>
            <a:ahLst/>
            <a:cxnLst/>
            <a:rect l="l" t="t" r="r" b="b"/>
            <a:pathLst>
              <a:path w="187959" h="131445">
                <a:moveTo>
                  <a:pt x="93939" y="131408"/>
                </a:moveTo>
                <a:lnTo>
                  <a:pt x="0" y="131408"/>
                </a:lnTo>
                <a:lnTo>
                  <a:pt x="0" y="0"/>
                </a:lnTo>
                <a:lnTo>
                  <a:pt x="187909" y="0"/>
                </a:lnTo>
                <a:lnTo>
                  <a:pt x="187909" y="131408"/>
                </a:lnTo>
                <a:lnTo>
                  <a:pt x="93939" y="131408"/>
                </a:lnTo>
                <a:close/>
              </a:path>
            </a:pathLst>
          </a:custGeom>
          <a:noFill/>
          <a:ln w="12600">
            <a:solidFill>
              <a:srgbClr val="1D30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28600" y="147600"/>
            <a:ext cx="8686800" cy="57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1F497D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1697040" y="1174320"/>
            <a:ext cx="5749920" cy="226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45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457200" lvl="1">
              <a:spcBef>
                <a:spcPts val="451"/>
              </a:spcBef>
              <a:buClr>
                <a:srgbClr val="000000"/>
              </a:buClr>
              <a:buFont typeface="Calibri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914400" lvl="2">
              <a:spcBef>
                <a:spcPts val="451"/>
              </a:spcBef>
              <a:buClr>
                <a:srgbClr val="000000"/>
              </a:buClr>
              <a:buFont typeface="Calibri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371600" lvl="3">
              <a:spcBef>
                <a:spcPts val="451"/>
              </a:spcBef>
              <a:buClr>
                <a:srgbClr val="000000"/>
              </a:buClr>
              <a:buFont typeface="Calibri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1828800" lvl="4">
              <a:spcBef>
                <a:spcPts val="451"/>
              </a:spcBef>
              <a:buClr>
                <a:srgbClr val="000000"/>
              </a:buClr>
              <a:buFont typeface="Calibri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1828800" lvl="5">
              <a:spcBef>
                <a:spcPts val="451"/>
              </a:spcBef>
              <a:buClr>
                <a:srgbClr val="000000"/>
              </a:buClr>
              <a:buFont typeface="Calibri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1828800" lvl="6">
              <a:spcBef>
                <a:spcPts val="451"/>
              </a:spcBef>
              <a:buClr>
                <a:srgbClr val="000000"/>
              </a:buClr>
              <a:buFont typeface="Calibri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ftr" idx="1"/>
          </p:nvPr>
        </p:nvSpPr>
        <p:spPr>
          <a:xfrm>
            <a:off x="6642000" y="6377040"/>
            <a:ext cx="1433520" cy="23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ct val="100000"/>
              </a:lnSpc>
              <a:spcBef>
                <a:spcPts val="22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defRPr>
            </a:lvl1pPr>
          </a:lstStyle>
          <a:p>
            <a:pPr marL="12600" indent="0">
              <a:lnSpc>
                <a:spcPct val="100000"/>
              </a:lnSpc>
              <a:spcBef>
                <a:spcPts val="22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AGPIT,</a:t>
            </a:r>
            <a:r>
              <a:rPr lang="en-US" sz="1200" b="0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SOLAPUR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2"/>
          </p:nvPr>
        </p:nvSpPr>
        <p:spPr>
          <a:xfrm>
            <a:off x="456840" y="6378120"/>
            <a:ext cx="2103480" cy="34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4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898989"/>
                </a:solidFill>
                <a:latin typeface="Times New Roman"/>
              </a:rPr>
              <a:t>&lt;date/time&gt;</a:t>
            </a: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3"/>
          </p:nvPr>
        </p:nvSpPr>
        <p:spPr>
          <a:xfrm>
            <a:off x="8859960" y="6435720"/>
            <a:ext cx="242640" cy="17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8160" indent="0">
              <a:lnSpc>
                <a:spcPts val="1236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marL="38160" indent="0">
              <a:lnSpc>
                <a:spcPts val="1236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2DCB19A-0F0A-464B-9182-D96541A024F1}" type="slidenum"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28600" y="147600"/>
            <a:ext cx="8686800" cy="57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1F497D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697040" y="1174320"/>
            <a:ext cx="5749920" cy="226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45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457200" lvl="1">
              <a:spcBef>
                <a:spcPts val="451"/>
              </a:spcBef>
              <a:buClr>
                <a:srgbClr val="000000"/>
              </a:buClr>
              <a:buFont typeface="Calibri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914400" lvl="2">
              <a:spcBef>
                <a:spcPts val="451"/>
              </a:spcBef>
              <a:buClr>
                <a:srgbClr val="000000"/>
              </a:buClr>
              <a:buFont typeface="Calibri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371600" lvl="3">
              <a:spcBef>
                <a:spcPts val="451"/>
              </a:spcBef>
              <a:buClr>
                <a:srgbClr val="000000"/>
              </a:buClr>
              <a:buFont typeface="Calibri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1828800" lvl="4">
              <a:spcBef>
                <a:spcPts val="451"/>
              </a:spcBef>
              <a:buClr>
                <a:srgbClr val="000000"/>
              </a:buClr>
              <a:buFont typeface="Calibri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1828800" lvl="5">
              <a:spcBef>
                <a:spcPts val="451"/>
              </a:spcBef>
              <a:buClr>
                <a:srgbClr val="000000"/>
              </a:buClr>
              <a:buFont typeface="Calibri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1828800" lvl="6">
              <a:spcBef>
                <a:spcPts val="451"/>
              </a:spcBef>
              <a:buClr>
                <a:srgbClr val="000000"/>
              </a:buClr>
              <a:buFont typeface="Calibri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ftr" idx="4"/>
          </p:nvPr>
        </p:nvSpPr>
        <p:spPr>
          <a:xfrm>
            <a:off x="6642000" y="6377040"/>
            <a:ext cx="1433520" cy="23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>
              <a:lnSpc>
                <a:spcPct val="100000"/>
              </a:lnSpc>
              <a:spcBef>
                <a:spcPts val="22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defRPr>
            </a:lvl1pPr>
          </a:lstStyle>
          <a:p>
            <a:pPr marL="12600" indent="0">
              <a:lnSpc>
                <a:spcPct val="100000"/>
              </a:lnSpc>
              <a:spcBef>
                <a:spcPts val="224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AGPIT,</a:t>
            </a:r>
            <a:r>
              <a:rPr lang="en-US" sz="1200" b="0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SOLAPUR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5"/>
          </p:nvPr>
        </p:nvSpPr>
        <p:spPr>
          <a:xfrm>
            <a:off x="456840" y="6378120"/>
            <a:ext cx="2103480" cy="34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4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898989"/>
                </a:solidFill>
                <a:latin typeface="Times New Roman"/>
              </a:rPr>
              <a:t>&lt;date/time&gt;</a:t>
            </a: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6"/>
          </p:nvPr>
        </p:nvSpPr>
        <p:spPr>
          <a:xfrm>
            <a:off x="8859960" y="6435720"/>
            <a:ext cx="242640" cy="17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8160" indent="0">
              <a:lnSpc>
                <a:spcPts val="1236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FFFFFF"/>
                </a:solidFill>
                <a:latin typeface="Calibri"/>
                <a:ea typeface="Calibri"/>
              </a:defRPr>
            </a:lvl1pPr>
          </a:lstStyle>
          <a:p>
            <a:pPr marL="38160" indent="0">
              <a:lnSpc>
                <a:spcPts val="1236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4A6618F-926F-480E-8EB8-34051B9F5885}" type="slidenum"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"/>
          <p:cNvSpPr/>
          <p:nvPr/>
        </p:nvSpPr>
        <p:spPr>
          <a:xfrm>
            <a:off x="-304920" y="574560"/>
            <a:ext cx="8077320" cy="197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2138400" algn="ctr">
              <a:lnSpc>
                <a:spcPct val="100000"/>
              </a:lnSpc>
              <a:spcBef>
                <a:spcPts val="99"/>
              </a:spcBef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PRESENTATION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2138400" algn="ctr">
              <a:lnSpc>
                <a:spcPct val="100000"/>
              </a:lnSpc>
              <a:spcBef>
                <a:spcPts val="99"/>
              </a:spcBef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ON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2138400" algn="ctr">
              <a:lnSpc>
                <a:spcPts val="1925"/>
              </a:lnSpc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“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IoT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Based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Secure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Access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Control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System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with</a:t>
            </a:r>
            <a:r>
              <a:rPr lang="en-US" sz="1600" b="1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Intrusion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Alert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”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2138400" algn="ctr">
              <a:lnSpc>
                <a:spcPct val="100000"/>
              </a:lnSpc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Calibri"/>
                <a:ea typeface="Calibri"/>
              </a:rPr>
              <a:t>Submitted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Calibri"/>
                <a:ea typeface="Calibri"/>
              </a:rPr>
              <a:t>for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Calibri"/>
                <a:ea typeface="Calibri"/>
              </a:rPr>
              <a:t>fulfillment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Calibri"/>
                <a:ea typeface="Calibri"/>
              </a:rPr>
              <a:t>Mini-Project-Phase-II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Calibri"/>
                <a:ea typeface="Calibri"/>
              </a:rPr>
              <a:t>BE-CSE(III),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0" strike="noStrike" spc="-1">
                <a:solidFill>
                  <a:srgbClr val="000000"/>
                </a:solidFill>
                <a:latin typeface="Calibri"/>
                <a:ea typeface="Calibri"/>
              </a:rPr>
              <a:t>2026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2138400">
              <a:lnSpc>
                <a:spcPct val="100000"/>
              </a:lnSpc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                          A.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G.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Patil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Institute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Technology,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Solapur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by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2138400" algn="ctr">
              <a:lnSpc>
                <a:spcPts val="1925"/>
              </a:lnSpc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GROUP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MEMBER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NAMES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2138400" algn="ctr">
              <a:lnSpc>
                <a:spcPct val="100000"/>
              </a:lnSpc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(Ritesh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Ekbote)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2138400" algn="ctr">
              <a:lnSpc>
                <a:spcPct val="100000"/>
              </a:lnSpc>
              <a:tabLst>
                <a:tab pos="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(Muskan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Mulani,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Bhagyashri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Koli,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Chetan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Calibri"/>
              </a:rPr>
              <a:t>Dhumal)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object 3"/>
          <p:cNvSpPr/>
          <p:nvPr/>
        </p:nvSpPr>
        <p:spPr>
          <a:xfrm>
            <a:off x="2057400" y="4572000"/>
            <a:ext cx="4648320" cy="167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530280">
              <a:lnSpc>
                <a:spcPct val="100000"/>
              </a:lnSpc>
              <a:spcBef>
                <a:spcPts val="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                    Under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Guidance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530280" algn="ctr">
              <a:lnSpc>
                <a:spcPct val="11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530280" algn="ctr">
              <a:lnSpc>
                <a:spcPct val="11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   Project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Co-Ordinator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530280" algn="ctr">
              <a:lnSpc>
                <a:spcPct val="11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  </a:t>
            </a:r>
            <a:r>
              <a:rPr lang="en-US" sz="1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Prof.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A.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P.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Hosale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530280" algn="ctr">
              <a:lnSpc>
                <a:spcPct val="11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         (Computer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Engineering)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530280">
              <a:lnSpc>
                <a:spcPct val="100000"/>
              </a:lnSpc>
              <a:spcBef>
                <a:spcPts val="32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        A.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G.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Patil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Institute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Technology,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Solapur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object 4"/>
          <p:cNvSpPr/>
          <p:nvPr/>
        </p:nvSpPr>
        <p:spPr>
          <a:xfrm>
            <a:off x="4192560" y="6348240"/>
            <a:ext cx="1751040" cy="28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Calibri"/>
              </a:rPr>
              <a:t>2026,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1" strike="noStrike" spc="-1">
                <a:solidFill>
                  <a:srgbClr val="000000"/>
                </a:solidFill>
                <a:latin typeface="Calibri"/>
                <a:ea typeface="Calibri"/>
              </a:rPr>
              <a:t>March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object 5"/>
          <p:cNvSpPr/>
          <p:nvPr/>
        </p:nvSpPr>
        <p:spPr>
          <a:xfrm>
            <a:off x="8918640" y="6504120"/>
            <a:ext cx="102960" cy="19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Calibri"/>
                <a:ea typeface="Calibri"/>
              </a:rPr>
              <a:t>1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" name="object 6"/>
          <p:cNvPicPr/>
          <p:nvPr/>
        </p:nvPicPr>
        <p:blipFill>
          <a:blip r:embed="rId2"/>
          <a:stretch/>
        </p:blipFill>
        <p:spPr>
          <a:xfrm>
            <a:off x="4024440" y="2801880"/>
            <a:ext cx="1542960" cy="1533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60360" y="227160"/>
            <a:ext cx="2060640" cy="42048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212A34"/>
                </a:solidFill>
                <a:latin typeface="Arial Black"/>
                <a:ea typeface="Arial Black"/>
              </a:rPr>
              <a:t>CONTENTS</a:t>
            </a:r>
            <a:endParaRPr lang="en-US" sz="2600" b="0" strike="noStrike" spc="-1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26" name="object 3"/>
          <p:cNvSpPr/>
          <p:nvPr/>
        </p:nvSpPr>
        <p:spPr>
          <a:xfrm>
            <a:off x="460440" y="906480"/>
            <a:ext cx="3616200" cy="5131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72080" rIns="0" bIns="0" anchor="t">
            <a:spAutoFit/>
          </a:bodyPr>
          <a:lstStyle/>
          <a:p>
            <a:pPr marL="277920" indent="-266760">
              <a:lnSpc>
                <a:spcPct val="100000"/>
              </a:lnSpc>
              <a:spcBef>
                <a:spcPts val="1349"/>
              </a:spcBef>
              <a:buClr>
                <a:srgbClr val="1F4E79"/>
              </a:buClr>
              <a:buFont typeface="Times New Roman"/>
              <a:buAutoNum type="arabicPeriod"/>
              <a:tabLst>
                <a:tab pos="27936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1" strike="noStrike" spc="-1">
                <a:solidFill>
                  <a:srgbClr val="1F4E79"/>
                </a:solidFill>
                <a:latin typeface="Times New Roman"/>
                <a:ea typeface="Times New Roman"/>
              </a:rPr>
              <a:t>PROBLEM</a:t>
            </a:r>
            <a:r>
              <a:rPr lang="en-US" sz="2100" b="0" strike="noStrike" spc="-1">
                <a:solidFill>
                  <a:srgbClr val="1F4E79"/>
                </a:solidFill>
                <a:latin typeface="Times New Roman"/>
                <a:ea typeface="Times New Roman"/>
              </a:rPr>
              <a:t> </a:t>
            </a:r>
            <a:r>
              <a:rPr lang="en-US" sz="2100" b="1" strike="noStrike" spc="-1">
                <a:solidFill>
                  <a:srgbClr val="1F4E79"/>
                </a:solidFill>
                <a:latin typeface="Times New Roman"/>
                <a:ea typeface="Times New Roman"/>
              </a:rPr>
              <a:t>STATEMENT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  <a:p>
            <a:pPr marL="277920" indent="-266760">
              <a:lnSpc>
                <a:spcPct val="100000"/>
              </a:lnSpc>
              <a:spcBef>
                <a:spcPts val="1261"/>
              </a:spcBef>
              <a:buClr>
                <a:srgbClr val="1F4E79"/>
              </a:buClr>
              <a:buFont typeface="Times New Roman"/>
              <a:buAutoNum type="arabicPeriod"/>
              <a:tabLst>
                <a:tab pos="27936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1" strike="noStrike" spc="-1">
                <a:solidFill>
                  <a:srgbClr val="1F4E79"/>
                </a:solidFill>
                <a:latin typeface="Times New Roman"/>
                <a:ea typeface="Times New Roman"/>
              </a:rPr>
              <a:t>OBJECTIVES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  <a:p>
            <a:pPr marL="277920" indent="-266760">
              <a:lnSpc>
                <a:spcPct val="100000"/>
              </a:lnSpc>
              <a:spcBef>
                <a:spcPts val="1261"/>
              </a:spcBef>
              <a:buClr>
                <a:srgbClr val="1F4E79"/>
              </a:buClr>
              <a:buFont typeface="Times New Roman"/>
              <a:buAutoNum type="arabicPeriod"/>
              <a:tabLst>
                <a:tab pos="27936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1" strike="noStrike" spc="-1">
                <a:solidFill>
                  <a:srgbClr val="1F4E79"/>
                </a:solidFill>
                <a:latin typeface="Times New Roman"/>
                <a:ea typeface="Times New Roman"/>
              </a:rPr>
              <a:t>EXISTING</a:t>
            </a:r>
            <a:r>
              <a:rPr lang="en-US" sz="2100" b="0" strike="noStrike" spc="-1">
                <a:solidFill>
                  <a:srgbClr val="1F4E79"/>
                </a:solidFill>
                <a:latin typeface="Times New Roman"/>
                <a:ea typeface="Times New Roman"/>
              </a:rPr>
              <a:t> </a:t>
            </a:r>
            <a:r>
              <a:rPr lang="en-US" sz="2100" b="1" strike="noStrike" spc="-1">
                <a:solidFill>
                  <a:srgbClr val="1F4E79"/>
                </a:solidFill>
                <a:latin typeface="Times New Roman"/>
                <a:ea typeface="Times New Roman"/>
              </a:rPr>
              <a:t>SYSTEM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  <a:p>
            <a:pPr marL="277920" indent="-266760">
              <a:lnSpc>
                <a:spcPct val="100000"/>
              </a:lnSpc>
              <a:spcBef>
                <a:spcPts val="1261"/>
              </a:spcBef>
              <a:buClr>
                <a:srgbClr val="1F4E79"/>
              </a:buClr>
              <a:buFont typeface="Times New Roman"/>
              <a:buAutoNum type="arabicPeriod"/>
              <a:tabLst>
                <a:tab pos="27936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1" strike="noStrike" spc="-1">
                <a:solidFill>
                  <a:srgbClr val="1F4E79"/>
                </a:solidFill>
                <a:latin typeface="Times New Roman"/>
                <a:ea typeface="Times New Roman"/>
              </a:rPr>
              <a:t>PROPOSED</a:t>
            </a:r>
            <a:r>
              <a:rPr lang="en-US" sz="2100" b="0" strike="noStrike" spc="-1">
                <a:solidFill>
                  <a:srgbClr val="1F4E79"/>
                </a:solidFill>
                <a:latin typeface="Times New Roman"/>
                <a:ea typeface="Times New Roman"/>
              </a:rPr>
              <a:t> </a:t>
            </a:r>
            <a:r>
              <a:rPr lang="en-US" sz="2100" b="1" strike="noStrike" spc="-1">
                <a:solidFill>
                  <a:srgbClr val="1F4E79"/>
                </a:solidFill>
                <a:latin typeface="Times New Roman"/>
                <a:ea typeface="Times New Roman"/>
              </a:rPr>
              <a:t>SYSTEM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  <a:p>
            <a:pPr marL="277920" indent="-266760">
              <a:lnSpc>
                <a:spcPct val="100000"/>
              </a:lnSpc>
              <a:spcBef>
                <a:spcPts val="1250"/>
              </a:spcBef>
              <a:buClr>
                <a:srgbClr val="1F4E79"/>
              </a:buClr>
              <a:buFont typeface="Times New Roman"/>
              <a:buAutoNum type="arabicPeriod"/>
              <a:tabLst>
                <a:tab pos="27936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1" strike="noStrike" spc="-1">
                <a:solidFill>
                  <a:srgbClr val="1F4E79"/>
                </a:solidFill>
                <a:latin typeface="Times New Roman"/>
                <a:ea typeface="Times New Roman"/>
              </a:rPr>
              <a:t>SYSTEM</a:t>
            </a:r>
            <a:r>
              <a:rPr lang="en-US" sz="2100" b="0" strike="noStrike" spc="-1">
                <a:solidFill>
                  <a:srgbClr val="1F4E79"/>
                </a:solidFill>
                <a:latin typeface="Times New Roman"/>
                <a:ea typeface="Times New Roman"/>
              </a:rPr>
              <a:t> </a:t>
            </a:r>
            <a:r>
              <a:rPr lang="en-US" sz="2100" b="1" strike="noStrike" spc="-1">
                <a:solidFill>
                  <a:srgbClr val="1F4E79"/>
                </a:solidFill>
                <a:latin typeface="Times New Roman"/>
                <a:ea typeface="Times New Roman"/>
              </a:rPr>
              <a:t>ARCHITECTURE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  <a:p>
            <a:pPr marL="277920" indent="-266760">
              <a:lnSpc>
                <a:spcPct val="100000"/>
              </a:lnSpc>
              <a:spcBef>
                <a:spcPts val="1261"/>
              </a:spcBef>
              <a:buClr>
                <a:srgbClr val="1F4E79"/>
              </a:buClr>
              <a:buFont typeface="Times New Roman"/>
              <a:buAutoNum type="arabicPeriod"/>
              <a:tabLst>
                <a:tab pos="27936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1" strike="noStrike" spc="-1">
                <a:solidFill>
                  <a:srgbClr val="1F4E79"/>
                </a:solidFill>
                <a:latin typeface="Times New Roman"/>
                <a:ea typeface="Times New Roman"/>
              </a:rPr>
              <a:t>TECHNOLOGIES</a:t>
            </a:r>
            <a:r>
              <a:rPr lang="en-US" sz="2100" b="0" strike="noStrike" spc="-1">
                <a:solidFill>
                  <a:srgbClr val="1F4E79"/>
                </a:solidFill>
                <a:latin typeface="Times New Roman"/>
                <a:ea typeface="Times New Roman"/>
              </a:rPr>
              <a:t> </a:t>
            </a:r>
            <a:r>
              <a:rPr lang="en-US" sz="2100" b="1" strike="noStrike" spc="-1">
                <a:solidFill>
                  <a:srgbClr val="1F4E79"/>
                </a:solidFill>
                <a:latin typeface="Times New Roman"/>
                <a:ea typeface="Times New Roman"/>
              </a:rPr>
              <a:t>USED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  <a:p>
            <a:pPr marL="277920" indent="-266760">
              <a:lnSpc>
                <a:spcPct val="100000"/>
              </a:lnSpc>
              <a:spcBef>
                <a:spcPts val="1261"/>
              </a:spcBef>
              <a:buClr>
                <a:srgbClr val="1F4E79"/>
              </a:buClr>
              <a:buFont typeface="Times New Roman"/>
              <a:buAutoNum type="arabicPeriod"/>
              <a:tabLst>
                <a:tab pos="27936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1" strike="noStrike" spc="-1">
                <a:solidFill>
                  <a:srgbClr val="1F4E79"/>
                </a:solidFill>
                <a:latin typeface="Times New Roman"/>
                <a:ea typeface="Times New Roman"/>
              </a:rPr>
              <a:t>METHODOLOGIES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  <a:p>
            <a:pPr marL="277920" indent="-266760">
              <a:lnSpc>
                <a:spcPct val="100000"/>
              </a:lnSpc>
              <a:spcBef>
                <a:spcPts val="1250"/>
              </a:spcBef>
              <a:buClr>
                <a:srgbClr val="1F4E79"/>
              </a:buClr>
              <a:buFont typeface="Times New Roman"/>
              <a:buAutoNum type="arabicPeriod"/>
              <a:tabLst>
                <a:tab pos="27936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1" strike="noStrike" spc="-1">
                <a:solidFill>
                  <a:srgbClr val="1F4E79"/>
                </a:solidFill>
                <a:latin typeface="Times New Roman"/>
                <a:ea typeface="Times New Roman"/>
              </a:rPr>
              <a:t>APPLICATIONS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  <a:p>
            <a:pPr marL="277920" indent="-266760">
              <a:lnSpc>
                <a:spcPct val="100000"/>
              </a:lnSpc>
              <a:spcBef>
                <a:spcPts val="1261"/>
              </a:spcBef>
              <a:buClr>
                <a:srgbClr val="1F4E79"/>
              </a:buClr>
              <a:buFont typeface="Times New Roman"/>
              <a:buAutoNum type="arabicPeriod"/>
              <a:tabLst>
                <a:tab pos="27936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1" strike="noStrike" spc="-1">
                <a:solidFill>
                  <a:srgbClr val="1F4E79"/>
                </a:solidFill>
                <a:latin typeface="Times New Roman"/>
                <a:ea typeface="Times New Roman"/>
              </a:rPr>
              <a:t>ADVANTAGES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  <a:p>
            <a:pPr marL="277920" indent="-266760">
              <a:lnSpc>
                <a:spcPct val="100000"/>
              </a:lnSpc>
              <a:spcBef>
                <a:spcPts val="1261"/>
              </a:spcBef>
              <a:buClr>
                <a:srgbClr val="1F4E79"/>
              </a:buClr>
              <a:buFont typeface="Times New Roman"/>
              <a:buAutoNum type="arabicPeriod"/>
              <a:tabLst>
                <a:tab pos="27936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1" strike="noStrike" spc="-1">
                <a:solidFill>
                  <a:srgbClr val="1F4E79"/>
                </a:solidFill>
                <a:latin typeface="Times New Roman"/>
                <a:ea typeface="Times New Roman"/>
              </a:rPr>
              <a:t>LIMITATIONS.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object 4"/>
          <p:cNvPicPr/>
          <p:nvPr/>
        </p:nvPicPr>
        <p:blipFill>
          <a:blip r:embed="rId2"/>
          <a:stretch/>
        </p:blipFill>
        <p:spPr>
          <a:xfrm>
            <a:off x="8317080" y="11160"/>
            <a:ext cx="610920" cy="608040"/>
          </a:xfrm>
          <a:prstGeom prst="rect">
            <a:avLst/>
          </a:prstGeom>
          <a:ln w="0">
            <a:noFill/>
          </a:ln>
        </p:spPr>
      </p:pic>
      <p:sp>
        <p:nvSpPr>
          <p:cNvPr id="28" name="object 5"/>
          <p:cNvSpPr/>
          <p:nvPr/>
        </p:nvSpPr>
        <p:spPr>
          <a:xfrm>
            <a:off x="6642000" y="6377040"/>
            <a:ext cx="143352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2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AGPIT,</a:t>
            </a:r>
            <a:r>
              <a:rPr lang="en-US" sz="1200" b="0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SOLAPUR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object 6"/>
          <p:cNvSpPr/>
          <p:nvPr/>
        </p:nvSpPr>
        <p:spPr>
          <a:xfrm>
            <a:off x="8859960" y="6435720"/>
            <a:ext cx="2426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816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F8F6202-00FC-447C-9A72-880278F001A4}" type="slidenum"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60360" y="249120"/>
            <a:ext cx="3075120" cy="65304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1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PROBLEM</a:t>
            </a:r>
            <a:r>
              <a:rPr lang="en-US" sz="2100" b="0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 </a:t>
            </a:r>
            <a:r>
              <a:rPr lang="en-US" sz="2100" b="1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STATEMENT</a:t>
            </a:r>
            <a:endParaRPr lang="en-US" sz="2100" b="0" strike="noStrike" spc="-1">
              <a:solidFill>
                <a:srgbClr val="1F497D"/>
              </a:solidFill>
              <a:latin typeface="Calibri"/>
            </a:endParaRPr>
          </a:p>
        </p:txBody>
      </p:sp>
      <p:pic>
        <p:nvPicPr>
          <p:cNvPr id="31" name="object 3"/>
          <p:cNvPicPr/>
          <p:nvPr/>
        </p:nvPicPr>
        <p:blipFill>
          <a:blip r:embed="rId2"/>
          <a:stretch/>
        </p:blipFill>
        <p:spPr>
          <a:xfrm>
            <a:off x="8317080" y="11160"/>
            <a:ext cx="610920" cy="608040"/>
          </a:xfrm>
          <a:prstGeom prst="rect">
            <a:avLst/>
          </a:prstGeom>
          <a:ln w="0">
            <a:noFill/>
          </a:ln>
        </p:spPr>
      </p:pic>
      <p:sp>
        <p:nvSpPr>
          <p:cNvPr id="32" name="object 4"/>
          <p:cNvSpPr/>
          <p:nvPr/>
        </p:nvSpPr>
        <p:spPr>
          <a:xfrm>
            <a:off x="617400" y="1606680"/>
            <a:ext cx="101880" cy="1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0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1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strike="noStrike" spc="-1">
                <a:solidFill>
                  <a:srgbClr val="000000"/>
                </a:solidFill>
                <a:latin typeface="Wingdings"/>
                <a:ea typeface="Wingdings"/>
              </a:rPr>
              <a:t>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object 10"/>
          <p:cNvSpPr/>
          <p:nvPr/>
        </p:nvSpPr>
        <p:spPr>
          <a:xfrm>
            <a:off x="6642000" y="6377040"/>
            <a:ext cx="143352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2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AGPIT,</a:t>
            </a:r>
            <a:r>
              <a:rPr lang="en-US" sz="1200" b="0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SOLAPUR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object 11"/>
          <p:cNvSpPr/>
          <p:nvPr/>
        </p:nvSpPr>
        <p:spPr>
          <a:xfrm>
            <a:off x="8859960" y="6435720"/>
            <a:ext cx="2426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816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7FD93A3-C4C8-4832-B796-0525B4E91148}" type="slidenum"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object 5"/>
          <p:cNvSpPr/>
          <p:nvPr/>
        </p:nvSpPr>
        <p:spPr>
          <a:xfrm>
            <a:off x="833400" y="1536840"/>
            <a:ext cx="7705800" cy="11463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spcBef>
                <a:spcPts val="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Admin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pages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often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do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not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detect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repeated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wrong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password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attempts,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allowing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pc="-1" dirty="0">
                <a:solidFill>
                  <a:srgbClr val="000000"/>
                </a:solidFill>
                <a:latin typeface="Arial"/>
                <a:ea typeface="Times New Roman"/>
              </a:rPr>
              <a:t>attackers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try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multiple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passwords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without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alerting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owner/admin.</a:t>
            </a:r>
          </a:p>
          <a:p>
            <a:pPr marL="12600">
              <a:spcBef>
                <a:spcPts val="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rial"/>
              <a:ea typeface="Arial"/>
            </a:endParaRPr>
          </a:p>
          <a:p>
            <a:pPr marL="12600">
              <a:spcBef>
                <a:spcPts val="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object 6"/>
          <p:cNvSpPr/>
          <p:nvPr/>
        </p:nvSpPr>
        <p:spPr>
          <a:xfrm>
            <a:off x="617400" y="2432160"/>
            <a:ext cx="101880" cy="1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0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1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strike="noStrike" spc="-1">
                <a:solidFill>
                  <a:srgbClr val="000000"/>
                </a:solidFill>
                <a:latin typeface="Wingdings"/>
                <a:ea typeface="Wingdings"/>
              </a:rPr>
              <a:t>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object 7"/>
          <p:cNvSpPr/>
          <p:nvPr/>
        </p:nvSpPr>
        <p:spPr>
          <a:xfrm>
            <a:off x="833400" y="2363760"/>
            <a:ext cx="7389720" cy="28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spcBef>
                <a:spcPts val="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owner/admin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often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does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not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know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that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someone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is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trying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break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in.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object 8"/>
          <p:cNvSpPr/>
          <p:nvPr/>
        </p:nvSpPr>
        <p:spPr>
          <a:xfrm>
            <a:off x="617400" y="2984400"/>
            <a:ext cx="101880" cy="1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0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1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strike="noStrike" spc="-1">
                <a:solidFill>
                  <a:srgbClr val="000000"/>
                </a:solidFill>
                <a:latin typeface="Wingdings"/>
                <a:ea typeface="Wingdings"/>
              </a:rPr>
              <a:t>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object 9"/>
          <p:cNvSpPr/>
          <p:nvPr/>
        </p:nvSpPr>
        <p:spPr>
          <a:xfrm>
            <a:off x="833400" y="2914560"/>
            <a:ext cx="7637400" cy="83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spcBef>
                <a:spcPts val="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system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is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needed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that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tracks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activity,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identifies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failed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attempts,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sends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an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instant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IoT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alert,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and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blocks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further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tries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prevent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unauthorized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access.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60000" y="249120"/>
            <a:ext cx="1714680" cy="3463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1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OBJECTIVES</a:t>
            </a:r>
            <a:endParaRPr lang="en-US" sz="2100" b="0" strike="noStrike" spc="-1">
              <a:solidFill>
                <a:srgbClr val="1F497D"/>
              </a:solidFill>
              <a:latin typeface="Calibri"/>
            </a:endParaRPr>
          </a:p>
        </p:txBody>
      </p:sp>
      <p:pic>
        <p:nvPicPr>
          <p:cNvPr id="41" name="object 3"/>
          <p:cNvPicPr/>
          <p:nvPr/>
        </p:nvPicPr>
        <p:blipFill>
          <a:blip r:embed="rId2"/>
          <a:stretch/>
        </p:blipFill>
        <p:spPr>
          <a:xfrm>
            <a:off x="8317080" y="11160"/>
            <a:ext cx="610920" cy="608040"/>
          </a:xfrm>
          <a:prstGeom prst="rect">
            <a:avLst/>
          </a:prstGeom>
          <a:ln w="0">
            <a:noFill/>
          </a:ln>
        </p:spPr>
      </p:pic>
      <p:sp>
        <p:nvSpPr>
          <p:cNvPr id="42" name="object 4"/>
          <p:cNvSpPr/>
          <p:nvPr/>
        </p:nvSpPr>
        <p:spPr>
          <a:xfrm>
            <a:off x="436680" y="1111320"/>
            <a:ext cx="8189640" cy="2501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228600" indent="-216000">
              <a:spcBef>
                <a:spcPts val="99"/>
              </a:spcBef>
              <a:buClr>
                <a:srgbClr val="000000"/>
              </a:buClr>
              <a:buFont typeface="Arial"/>
              <a:buAutoNum type="arabicPeriod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monitor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all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attempts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and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identify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repeated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wrong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password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entries.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spcBef>
                <a:spcPts val="51"/>
              </a:spcBef>
              <a:buClr>
                <a:srgbClr val="000000"/>
              </a:buClr>
              <a:buFont typeface="Arial"/>
              <a:buAutoNum type="arabicPeriod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buClr>
                <a:srgbClr val="000000"/>
              </a:buClr>
              <a:buFont typeface="Arial"/>
              <a:buAutoNum type="arabicPeriod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detect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failed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attempts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and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treat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it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possible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intrusion.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spcBef>
                <a:spcPts val="51"/>
              </a:spcBef>
              <a:buClr>
                <a:srgbClr val="000000"/>
              </a:buClr>
              <a:buFont typeface="Arial"/>
              <a:buAutoNum type="arabicPeriod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buClr>
                <a:srgbClr val="000000"/>
              </a:buClr>
              <a:buFont typeface="Arial"/>
              <a:buAutoNum type="arabicPeriod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send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an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instant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IoT-based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alert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owner/admin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when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suspicious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activity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occurs.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spcBef>
                <a:spcPts val="51"/>
              </a:spcBef>
              <a:buClr>
                <a:srgbClr val="000000"/>
              </a:buClr>
              <a:buFont typeface="Arial"/>
              <a:buAutoNum type="arabicPeriod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buClr>
                <a:srgbClr val="000000"/>
              </a:buClr>
              <a:buFont typeface="Arial"/>
              <a:buAutoNum type="arabicPeriod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block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further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attempts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and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intruder’s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IP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temporarily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prevent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unauthorized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access.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object 5"/>
          <p:cNvSpPr/>
          <p:nvPr/>
        </p:nvSpPr>
        <p:spPr>
          <a:xfrm>
            <a:off x="6642000" y="6377040"/>
            <a:ext cx="143352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2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AGPIT,</a:t>
            </a:r>
            <a:r>
              <a:rPr lang="en-US" sz="1200" b="0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SOLAPUR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object 6"/>
          <p:cNvSpPr/>
          <p:nvPr/>
        </p:nvSpPr>
        <p:spPr>
          <a:xfrm>
            <a:off x="8859960" y="6435720"/>
            <a:ext cx="2426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816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FD0A89A-02A2-4296-B4D6-809401C8A3EF}" type="slidenum"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60000" y="249120"/>
            <a:ext cx="2492280" cy="3463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1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EXISTING</a:t>
            </a:r>
            <a:r>
              <a:rPr lang="en-US" sz="2100" b="0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 </a:t>
            </a:r>
            <a:r>
              <a:rPr lang="en-US" sz="2100" b="1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SYSTEM</a:t>
            </a:r>
            <a:endParaRPr lang="en-US" sz="2100" b="0" strike="noStrike" spc="-1">
              <a:solidFill>
                <a:srgbClr val="1F497D"/>
              </a:solidFill>
              <a:latin typeface="Calibri"/>
            </a:endParaRPr>
          </a:p>
        </p:txBody>
      </p:sp>
      <p:pic>
        <p:nvPicPr>
          <p:cNvPr id="46" name="object 3"/>
          <p:cNvPicPr/>
          <p:nvPr/>
        </p:nvPicPr>
        <p:blipFill>
          <a:blip r:embed="rId2"/>
          <a:stretch/>
        </p:blipFill>
        <p:spPr>
          <a:xfrm>
            <a:off x="8317080" y="11160"/>
            <a:ext cx="610920" cy="608040"/>
          </a:xfrm>
          <a:prstGeom prst="rect">
            <a:avLst/>
          </a:prstGeom>
          <a:ln w="0">
            <a:noFill/>
          </a:ln>
        </p:spPr>
      </p:pic>
      <p:sp>
        <p:nvSpPr>
          <p:cNvPr id="47" name="object 4"/>
          <p:cNvSpPr/>
          <p:nvPr/>
        </p:nvSpPr>
        <p:spPr>
          <a:xfrm>
            <a:off x="436680" y="1292400"/>
            <a:ext cx="8280360" cy="331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spcBef>
                <a:spcPts val="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In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existing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system,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most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admin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pages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only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check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whether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username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and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password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are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correct.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If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someone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enters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wrong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password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many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times,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system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still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allows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them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keep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trying.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It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does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not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count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how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many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times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password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was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entered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incorrectly.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12600">
              <a:spcBef>
                <a:spcPts val="26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12600" algn="just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There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no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warning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or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message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sent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owner/admin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when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someone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trying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log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in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again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and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again.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Because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of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this,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owner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does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not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know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if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someone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trying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guess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password.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12600">
              <a:spcBef>
                <a:spcPts val="37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12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Also,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existing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system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does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not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block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user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or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stop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further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attempts,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even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if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activity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looks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suspicious.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This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makes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admin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account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easy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attack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and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less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secure.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object 5"/>
          <p:cNvSpPr/>
          <p:nvPr/>
        </p:nvSpPr>
        <p:spPr>
          <a:xfrm>
            <a:off x="6642000" y="6377040"/>
            <a:ext cx="143352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2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AGPIT,</a:t>
            </a:r>
            <a:r>
              <a:rPr lang="en-US" sz="1200" b="0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SOLAPUR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object 6"/>
          <p:cNvSpPr/>
          <p:nvPr/>
        </p:nvSpPr>
        <p:spPr>
          <a:xfrm>
            <a:off x="8859960" y="6435720"/>
            <a:ext cx="2426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816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FDAB12F-148D-47A5-99D1-3F855BBC1753}" type="slidenum"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60000" y="249120"/>
            <a:ext cx="2639880" cy="3463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1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PROPOSED</a:t>
            </a:r>
            <a:r>
              <a:rPr lang="en-US" sz="2100" b="0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 </a:t>
            </a:r>
            <a:r>
              <a:rPr lang="en-US" sz="2100" b="1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SYSTEM</a:t>
            </a:r>
            <a:endParaRPr lang="en-US" sz="2100" b="0" strike="noStrike" spc="-1">
              <a:solidFill>
                <a:srgbClr val="1F497D"/>
              </a:solidFill>
              <a:latin typeface="Calibri"/>
            </a:endParaRPr>
          </a:p>
        </p:txBody>
      </p:sp>
      <p:pic>
        <p:nvPicPr>
          <p:cNvPr id="51" name="object 3"/>
          <p:cNvPicPr/>
          <p:nvPr/>
        </p:nvPicPr>
        <p:blipFill>
          <a:blip r:embed="rId2"/>
          <a:stretch/>
        </p:blipFill>
        <p:spPr>
          <a:xfrm>
            <a:off x="8317080" y="11160"/>
            <a:ext cx="610920" cy="608040"/>
          </a:xfrm>
          <a:prstGeom prst="rect">
            <a:avLst/>
          </a:prstGeom>
          <a:ln w="0">
            <a:noFill/>
          </a:ln>
        </p:spPr>
      </p:pic>
      <p:sp>
        <p:nvSpPr>
          <p:cNvPr id="52" name="object 4"/>
          <p:cNvSpPr/>
          <p:nvPr/>
        </p:nvSpPr>
        <p:spPr>
          <a:xfrm>
            <a:off x="436680" y="1362240"/>
            <a:ext cx="102960" cy="1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0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1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strike="noStrike" spc="-1">
                <a:solidFill>
                  <a:srgbClr val="000000"/>
                </a:solidFill>
                <a:latin typeface="Wingdings"/>
                <a:ea typeface="Wingdings"/>
              </a:rPr>
              <a:t>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object 12"/>
          <p:cNvSpPr/>
          <p:nvPr/>
        </p:nvSpPr>
        <p:spPr>
          <a:xfrm>
            <a:off x="6642000" y="6377040"/>
            <a:ext cx="143352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2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AGPIT,</a:t>
            </a:r>
            <a:r>
              <a:rPr lang="en-US" sz="1200" b="0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SOLAPUR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object 13"/>
          <p:cNvSpPr/>
          <p:nvPr/>
        </p:nvSpPr>
        <p:spPr>
          <a:xfrm>
            <a:off x="8859960" y="6435720"/>
            <a:ext cx="2426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816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1084441-E640-4979-9535-420030A1A89C}" type="slidenum"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object 5"/>
          <p:cNvSpPr/>
          <p:nvPr/>
        </p:nvSpPr>
        <p:spPr>
          <a:xfrm>
            <a:off x="652320" y="1292400"/>
            <a:ext cx="5484960" cy="28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spcBef>
                <a:spcPts val="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system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keeps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close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watch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on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all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activities.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object 6"/>
          <p:cNvSpPr/>
          <p:nvPr/>
        </p:nvSpPr>
        <p:spPr>
          <a:xfrm>
            <a:off x="436680" y="1913040"/>
            <a:ext cx="102960" cy="1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0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1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strike="noStrike" spc="-1">
                <a:solidFill>
                  <a:srgbClr val="000000"/>
                </a:solidFill>
                <a:latin typeface="Wingdings"/>
                <a:ea typeface="Wingdings"/>
              </a:rPr>
              <a:t>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object 7"/>
          <p:cNvSpPr/>
          <p:nvPr/>
        </p:nvSpPr>
        <p:spPr>
          <a:xfrm>
            <a:off x="652320" y="1843200"/>
            <a:ext cx="7150320" cy="28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spcBef>
                <a:spcPts val="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Continuous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wrong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password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entries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trigger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an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intrusion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warning.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object 8"/>
          <p:cNvSpPr/>
          <p:nvPr/>
        </p:nvSpPr>
        <p:spPr>
          <a:xfrm>
            <a:off x="436680" y="2463840"/>
            <a:ext cx="102960" cy="1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0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1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strike="noStrike" spc="-1">
                <a:solidFill>
                  <a:srgbClr val="000000"/>
                </a:solidFill>
                <a:latin typeface="Wingdings"/>
                <a:ea typeface="Wingdings"/>
              </a:rPr>
              <a:t>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object 9"/>
          <p:cNvSpPr/>
          <p:nvPr/>
        </p:nvSpPr>
        <p:spPr>
          <a:xfrm>
            <a:off x="652320" y="2395440"/>
            <a:ext cx="7856640" cy="56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spcBef>
                <a:spcPts val="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An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immediate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IoT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notification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is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sent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owner/admin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inform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them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of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suspicious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login.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object 10"/>
          <p:cNvSpPr/>
          <p:nvPr/>
        </p:nvSpPr>
        <p:spPr>
          <a:xfrm>
            <a:off x="436680" y="3290760"/>
            <a:ext cx="102960" cy="1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0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1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strike="noStrike" spc="-1">
                <a:solidFill>
                  <a:srgbClr val="000000"/>
                </a:solidFill>
                <a:latin typeface="Wingdings"/>
                <a:ea typeface="Wingdings"/>
              </a:rPr>
              <a:t></a:t>
            </a:r>
            <a:endParaRPr lang="en-US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object 11"/>
          <p:cNvSpPr/>
          <p:nvPr/>
        </p:nvSpPr>
        <p:spPr>
          <a:xfrm>
            <a:off x="652320" y="3220920"/>
            <a:ext cx="8085240" cy="56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spcBef>
                <a:spcPts val="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system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then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stops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any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more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attempts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and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temporarily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blocks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IP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avoid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further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misuse.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60000" y="249120"/>
            <a:ext cx="3351240" cy="65304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1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SYSTEM</a:t>
            </a:r>
            <a:r>
              <a:rPr lang="en-US" sz="2100" b="0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 </a:t>
            </a:r>
            <a:r>
              <a:rPr lang="en-US" sz="2100" b="1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ARCHITECTURE</a:t>
            </a:r>
            <a:endParaRPr lang="en-US" sz="2100" b="0" strike="noStrike" spc="-1">
              <a:solidFill>
                <a:srgbClr val="1F497D"/>
              </a:solidFill>
              <a:latin typeface="Calibri"/>
            </a:endParaRPr>
          </a:p>
        </p:txBody>
      </p:sp>
      <p:pic>
        <p:nvPicPr>
          <p:cNvPr id="63" name="object 3"/>
          <p:cNvPicPr/>
          <p:nvPr/>
        </p:nvPicPr>
        <p:blipFill>
          <a:blip r:embed="rId2"/>
          <a:stretch/>
        </p:blipFill>
        <p:spPr>
          <a:xfrm>
            <a:off x="8317080" y="11160"/>
            <a:ext cx="610920" cy="608040"/>
          </a:xfrm>
          <a:prstGeom prst="rect">
            <a:avLst/>
          </a:prstGeom>
          <a:ln w="0">
            <a:noFill/>
          </a:ln>
        </p:spPr>
      </p:pic>
      <p:sp>
        <p:nvSpPr>
          <p:cNvPr id="64" name="object 5"/>
          <p:cNvSpPr/>
          <p:nvPr/>
        </p:nvSpPr>
        <p:spPr>
          <a:xfrm>
            <a:off x="6642000" y="6377040"/>
            <a:ext cx="143352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2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AGPIT,</a:t>
            </a:r>
            <a:r>
              <a:rPr lang="en-US" sz="1200" b="0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SOLAPUR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object 6"/>
          <p:cNvSpPr/>
          <p:nvPr/>
        </p:nvSpPr>
        <p:spPr>
          <a:xfrm>
            <a:off x="8859960" y="6435720"/>
            <a:ext cx="2426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816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14EFFD8-5005-44B6-9070-F7373BCB5517}" type="slidenum"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Picture 7"/>
          <p:cNvPicPr/>
          <p:nvPr/>
        </p:nvPicPr>
        <p:blipFill>
          <a:blip r:embed="rId3"/>
          <a:stretch/>
        </p:blipFill>
        <p:spPr>
          <a:xfrm>
            <a:off x="58680" y="725400"/>
            <a:ext cx="9026640" cy="5614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60000" y="249120"/>
            <a:ext cx="2979720" cy="3463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1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TECHNOLOGIES</a:t>
            </a:r>
            <a:r>
              <a:rPr lang="en-US" sz="2100" b="0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 </a:t>
            </a:r>
            <a:r>
              <a:rPr lang="en-US" sz="2100" b="1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USED</a:t>
            </a:r>
            <a:endParaRPr lang="en-US" sz="2100" b="0" strike="noStrike" spc="-1">
              <a:solidFill>
                <a:srgbClr val="1F497D"/>
              </a:solidFill>
              <a:latin typeface="Calibri"/>
            </a:endParaRPr>
          </a:p>
        </p:txBody>
      </p:sp>
      <p:pic>
        <p:nvPicPr>
          <p:cNvPr id="68" name="object 3"/>
          <p:cNvPicPr/>
          <p:nvPr/>
        </p:nvPicPr>
        <p:blipFill>
          <a:blip r:embed="rId2"/>
          <a:stretch/>
        </p:blipFill>
        <p:spPr>
          <a:xfrm>
            <a:off x="8317080" y="11160"/>
            <a:ext cx="610920" cy="608040"/>
          </a:xfrm>
          <a:prstGeom prst="rect">
            <a:avLst/>
          </a:prstGeom>
          <a:ln w="0">
            <a:noFill/>
          </a:ln>
        </p:spPr>
      </p:pic>
      <p:sp>
        <p:nvSpPr>
          <p:cNvPr id="69" name="object 4"/>
          <p:cNvSpPr/>
          <p:nvPr/>
        </p:nvSpPr>
        <p:spPr>
          <a:xfrm>
            <a:off x="113122" y="838080"/>
            <a:ext cx="9030878" cy="45417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65880" rIns="0" bIns="0" anchor="t">
            <a:spAutoFit/>
          </a:bodyPr>
          <a:lstStyle/>
          <a:p>
            <a:pPr marL="181080" indent="-168480">
              <a:lnSpc>
                <a:spcPct val="100000"/>
              </a:lnSpc>
              <a:spcBef>
                <a:spcPts val="524"/>
              </a:spcBef>
              <a:buClr>
                <a:srgbClr val="000000"/>
              </a:buClr>
              <a:buFont typeface="Liberation Sans"/>
              <a:buAutoNum type="arabicPeriod"/>
              <a:tabLst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Web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Technologies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(HTML,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CSS,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PHP)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29000"/>
              </a:lnSpc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These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are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used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create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admin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page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and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backend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logic.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HTML/CSS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help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design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interface.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spcBef>
                <a:spcPts val="388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PHP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handle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verification,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checking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attempts,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and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sending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data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Laptop or Computer System.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spcBef>
                <a:spcPts val="711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spcBef>
                <a:spcPts val="711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spc="-1" dirty="0">
                <a:solidFill>
                  <a:srgbClr val="000000"/>
                </a:solidFill>
                <a:latin typeface="Arial"/>
                <a:ea typeface="Arial"/>
              </a:rPr>
              <a:t>2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. Relay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Module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spcBef>
                <a:spcPts val="388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electronic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switch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that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controlled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by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Arduino.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spcBef>
                <a:spcPts val="388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It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powers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intrusion alert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device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when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intrusion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detected.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relay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allows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low-power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Arduino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signal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control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high power</a:t>
            </a:r>
            <a:endParaRPr lang="en-US" sz="1200" spc="-1" dirty="0">
              <a:solidFill>
                <a:srgbClr val="000000"/>
              </a:solidFill>
              <a:latin typeface="Times New Roman"/>
              <a:ea typeface="Arial"/>
            </a:endParaRPr>
          </a:p>
          <a:p>
            <a:pPr marL="181080" indent="-168480">
              <a:lnSpc>
                <a:spcPct val="100000"/>
              </a:lnSpc>
              <a:spcBef>
                <a:spcPts val="388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devices.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spcBef>
                <a:spcPts val="711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spcBef>
                <a:spcPts val="711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spc="-1" dirty="0">
                <a:solidFill>
                  <a:srgbClr val="000000"/>
                </a:solidFill>
                <a:latin typeface="Arial"/>
                <a:ea typeface="Arial"/>
              </a:rPr>
              <a:t>3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.IoT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Platform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lang="en-US" sz="1400" b="1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PHPMailer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/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Gmail SMTP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/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TLS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Port 587)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spcBef>
                <a:spcPts val="388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Used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send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instant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alerts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owner.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spcBef>
                <a:spcPts val="388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After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detecting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intrusion,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system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sends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notification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through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IoT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service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like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PHPMailer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,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Gmail SMTP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SMTP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,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or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email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alert</a:t>
            </a:r>
          </a:p>
          <a:p>
            <a:pPr marL="181080" indent="-168480">
              <a:lnSpc>
                <a:spcPct val="100000"/>
              </a:lnSpc>
              <a:spcBef>
                <a:spcPts val="388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system.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spcBef>
                <a:spcPts val="11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spc="-1" dirty="0">
                <a:solidFill>
                  <a:srgbClr val="000000"/>
                </a:solidFill>
                <a:latin typeface="Arial"/>
                <a:ea typeface="Arial"/>
              </a:rPr>
              <a:t>4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.MySQL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Database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spcBef>
                <a:spcPts val="950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Stores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details,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usernames,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passwords,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and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record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of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failed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attempts.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spcBef>
                <a:spcPts val="950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Computer System checks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this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database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verify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credentials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and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track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intrusion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activity.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object 5"/>
          <p:cNvSpPr/>
          <p:nvPr/>
        </p:nvSpPr>
        <p:spPr>
          <a:xfrm>
            <a:off x="6642000" y="6377040"/>
            <a:ext cx="143352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2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AGPIT,</a:t>
            </a:r>
            <a:r>
              <a:rPr lang="en-US" sz="1200" b="0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SOLAPUR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object 6"/>
          <p:cNvSpPr/>
          <p:nvPr/>
        </p:nvSpPr>
        <p:spPr>
          <a:xfrm>
            <a:off x="8859960" y="6435720"/>
            <a:ext cx="2426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816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7DDF715-03F8-429B-A4FA-1F3250FAED0F}" type="slidenum"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60360" y="249120"/>
            <a:ext cx="2232000" cy="34632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1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METHODOLOGY</a:t>
            </a:r>
            <a:endParaRPr lang="en-US" sz="2100" b="0" strike="noStrike" spc="-1">
              <a:solidFill>
                <a:srgbClr val="1F497D"/>
              </a:solidFill>
              <a:latin typeface="Calibri"/>
            </a:endParaRPr>
          </a:p>
        </p:txBody>
      </p:sp>
      <p:pic>
        <p:nvPicPr>
          <p:cNvPr id="73" name="object 3"/>
          <p:cNvPicPr/>
          <p:nvPr/>
        </p:nvPicPr>
        <p:blipFill>
          <a:blip r:embed="rId2"/>
          <a:stretch/>
        </p:blipFill>
        <p:spPr>
          <a:xfrm>
            <a:off x="8317080" y="11160"/>
            <a:ext cx="610920" cy="608040"/>
          </a:xfrm>
          <a:prstGeom prst="rect">
            <a:avLst/>
          </a:prstGeom>
          <a:ln w="0">
            <a:noFill/>
          </a:ln>
        </p:spPr>
      </p:pic>
      <p:sp>
        <p:nvSpPr>
          <p:cNvPr id="74" name="object 4"/>
          <p:cNvSpPr/>
          <p:nvPr/>
        </p:nvSpPr>
        <p:spPr>
          <a:xfrm>
            <a:off x="85680" y="919080"/>
            <a:ext cx="8750520" cy="54466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81080" indent="-16848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iberation Sans"/>
              <a:buAutoNum type="arabicPeriod"/>
              <a:tabLst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 Design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Admin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System-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spcBef>
                <a:spcPts val="950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Create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web-based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page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and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Connect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it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backend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that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verifies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entered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credentials.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spcBef>
                <a:spcPts val="26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buClr>
                <a:srgbClr val="000000"/>
              </a:buClr>
              <a:tabLst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2. Track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Attempts-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spcBef>
                <a:spcPts val="26"/>
              </a:spcBef>
              <a:buClr>
                <a:srgbClr val="000000"/>
              </a:buClr>
              <a:buFont typeface="Liberation Sans"/>
              <a:buChar char="•"/>
              <a:tabLst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System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keeps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count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of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how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many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times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password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entered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incorrectly.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spcBef>
                <a:spcPts val="26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buClr>
                <a:srgbClr val="000000"/>
              </a:buClr>
              <a:tabLst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3. Detect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Intrusion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Attempt-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ts val="1335"/>
              </a:lnSpc>
              <a:spcBef>
                <a:spcPts val="1074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When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system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notices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wrong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password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attempts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row,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it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marks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this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suspicious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activity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then switches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system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into</a:t>
            </a:r>
            <a:endParaRPr lang="en-US" sz="1200" spc="-1" dirty="0">
              <a:solidFill>
                <a:srgbClr val="000000"/>
              </a:solidFill>
              <a:latin typeface="Times New Roman"/>
              <a:ea typeface="Arial"/>
            </a:endParaRPr>
          </a:p>
          <a:p>
            <a:pPr marL="181080" indent="-168480">
              <a:lnSpc>
                <a:spcPts val="1335"/>
              </a:lnSpc>
              <a:spcBef>
                <a:spcPts val="1074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“intrusion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alert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mode.”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49"/>
              </a:spcBef>
              <a:buClr>
                <a:srgbClr val="000000"/>
              </a:buClr>
              <a:tabLst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4. Send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Intrusion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Signal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Arduino-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spcBef>
                <a:spcPts val="950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Computer System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sends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digital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signal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Arduino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whenever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intrusion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detected.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spcBef>
                <a:spcPts val="26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buClr>
                <a:srgbClr val="000000"/>
              </a:buClr>
              <a:tabLst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5. Activate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IoT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Alert-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206000"/>
              </a:lnSpc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Arduino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receives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signal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and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activates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connected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relay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module.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relay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turns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bulb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or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alert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device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indicate</a:t>
            </a:r>
            <a:endParaRPr lang="en-US" sz="1200" spc="-1" dirty="0">
              <a:solidFill>
                <a:srgbClr val="000000"/>
              </a:solidFill>
              <a:latin typeface="Times New Roman"/>
              <a:ea typeface="Arial"/>
            </a:endParaRPr>
          </a:p>
          <a:p>
            <a:pPr marL="181080" indent="-168480">
              <a:lnSpc>
                <a:spcPct val="206000"/>
              </a:lnSpc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unauthorized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access.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spcBef>
                <a:spcPts val="26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buClr>
                <a:srgbClr val="000000"/>
              </a:buClr>
              <a:tabLst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6. Notify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Owner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Through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IoT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Platform-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spcBef>
                <a:spcPts val="26"/>
              </a:spcBef>
              <a:buClr>
                <a:srgbClr val="000000"/>
              </a:buClr>
              <a:buFont typeface="Liberation Sans"/>
              <a:buAutoNum type="arabicPeriod"/>
              <a:tabLst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At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same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time,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system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sends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instant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notification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owner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through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IoT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platform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(like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email,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app,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or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message).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spcBef>
                <a:spcPts val="26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buClr>
                <a:srgbClr val="000000"/>
              </a:buClr>
              <a:tabLst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7. Block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Further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Attempts-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spcBef>
                <a:spcPts val="26"/>
              </a:spcBef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300" b="0" strike="noStrike" spc="-1" dirty="0">
              <a:solidFill>
                <a:srgbClr val="000000"/>
              </a:solidFill>
              <a:latin typeface="Arial"/>
            </a:endParaRPr>
          </a:p>
          <a:p>
            <a:pPr marL="181080" indent="-168480">
              <a:lnSpc>
                <a:spcPct val="100000"/>
              </a:lnSpc>
              <a:tabLst>
                <a:tab pos="0" algn="l"/>
                <a:tab pos="18108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After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sending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alerts,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system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temporarily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blocks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page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or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IP</a:t>
            </a:r>
            <a:r>
              <a:rPr lang="en-US" sz="12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address.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object 5"/>
          <p:cNvSpPr/>
          <p:nvPr/>
        </p:nvSpPr>
        <p:spPr>
          <a:xfrm>
            <a:off x="6642000" y="6377040"/>
            <a:ext cx="143352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2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AGPIT,</a:t>
            </a:r>
            <a:r>
              <a:rPr lang="en-US" sz="1200" b="0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SOLAPUR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object 6"/>
          <p:cNvSpPr/>
          <p:nvPr/>
        </p:nvSpPr>
        <p:spPr>
          <a:xfrm>
            <a:off x="8859960" y="6435720"/>
            <a:ext cx="2426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816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428BB39-9A70-4534-AE5F-850971337495}" type="slidenum"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360360" y="249120"/>
            <a:ext cx="2021040" cy="65304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1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APPLICATIONS</a:t>
            </a:r>
            <a:endParaRPr lang="en-US" sz="2100" b="0" strike="noStrike" spc="-1">
              <a:solidFill>
                <a:srgbClr val="1F497D"/>
              </a:solidFill>
              <a:latin typeface="Calibri"/>
            </a:endParaRPr>
          </a:p>
        </p:txBody>
      </p:sp>
      <p:pic>
        <p:nvPicPr>
          <p:cNvPr id="78" name="object 3"/>
          <p:cNvPicPr/>
          <p:nvPr/>
        </p:nvPicPr>
        <p:blipFill>
          <a:blip r:embed="rId2"/>
          <a:stretch/>
        </p:blipFill>
        <p:spPr>
          <a:xfrm>
            <a:off x="8317080" y="11160"/>
            <a:ext cx="610920" cy="608040"/>
          </a:xfrm>
          <a:prstGeom prst="rect">
            <a:avLst/>
          </a:prstGeom>
          <a:ln w="0">
            <a:noFill/>
          </a:ln>
        </p:spPr>
      </p:pic>
      <p:sp>
        <p:nvSpPr>
          <p:cNvPr id="79" name="object 4"/>
          <p:cNvSpPr/>
          <p:nvPr/>
        </p:nvSpPr>
        <p:spPr>
          <a:xfrm>
            <a:off x="257040" y="1095480"/>
            <a:ext cx="8643960" cy="208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228600" indent="-2160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iberation Sans"/>
              <a:buAutoNum type="arabicParenR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Office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Admin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Panels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–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Protects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employee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or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manager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accounts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from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unauthorized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access.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lnSpc>
                <a:spcPct val="100000"/>
              </a:lnSpc>
              <a:spcBef>
                <a:spcPts val="11"/>
              </a:spcBef>
              <a:buClr>
                <a:srgbClr val="000000"/>
              </a:buClr>
              <a:buFont typeface="Liberation Sans"/>
              <a:buAutoNum type="arabicParenR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lnSpc>
                <a:spcPct val="100000"/>
              </a:lnSpc>
              <a:buClr>
                <a:srgbClr val="000000"/>
              </a:buClr>
              <a:buFont typeface="Liberation Sans"/>
              <a:buAutoNum type="arabicParenR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Laboratory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Systems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–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Secures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sensitive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data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and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prevents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intruders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from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accessing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lab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records.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lnSpc>
                <a:spcPct val="100000"/>
              </a:lnSpc>
              <a:spcBef>
                <a:spcPts val="11"/>
              </a:spcBef>
              <a:buClr>
                <a:srgbClr val="000000"/>
              </a:buClr>
              <a:buFont typeface="Liberation Sans"/>
              <a:buAutoNum type="arabicParenR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lnSpc>
                <a:spcPct val="100000"/>
              </a:lnSpc>
              <a:buClr>
                <a:srgbClr val="000000"/>
              </a:buClr>
              <a:buFont typeface="Liberation Sans"/>
              <a:buAutoNum type="arabicParenR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College/School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Portals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–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Adds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extra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security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for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admin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dashboards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and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staff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pages.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lnSpc>
                <a:spcPct val="100000"/>
              </a:lnSpc>
              <a:spcBef>
                <a:spcPts val="11"/>
              </a:spcBef>
              <a:buClr>
                <a:srgbClr val="000000"/>
              </a:buClr>
              <a:buFont typeface="Liberation Sans"/>
              <a:buAutoNum type="arabicParenR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lnSpc>
                <a:spcPct val="100000"/>
              </a:lnSpc>
              <a:buClr>
                <a:srgbClr val="000000"/>
              </a:buClr>
              <a:buFont typeface="Liberation Sans"/>
              <a:buAutoNum type="arabicParenR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Small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Business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Websites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–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Helps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business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owners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protect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their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website’s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admin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section.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lnSpc>
                <a:spcPct val="100000"/>
              </a:lnSpc>
              <a:spcBef>
                <a:spcPts val="51"/>
              </a:spcBef>
              <a:buClr>
                <a:srgbClr val="000000"/>
              </a:buClr>
              <a:buFont typeface="Liberation Sans"/>
              <a:buAutoNum type="arabicParenR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lnSpc>
                <a:spcPts val="1573"/>
              </a:lnSpc>
              <a:buClr>
                <a:srgbClr val="000000"/>
              </a:buClr>
              <a:buFont typeface="Liberation Sans"/>
              <a:buAutoNum type="arabicParenR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Home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or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Personal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Systems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–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Useful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for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personal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pages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where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users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want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intrusion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alerts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and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extra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protection.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object 5"/>
          <p:cNvSpPr/>
          <p:nvPr/>
        </p:nvSpPr>
        <p:spPr>
          <a:xfrm>
            <a:off x="6642000" y="6377040"/>
            <a:ext cx="143352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2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AGPIT,</a:t>
            </a:r>
            <a:r>
              <a:rPr lang="en-US" sz="1200" b="0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SOLAPUR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object 6"/>
          <p:cNvSpPr/>
          <p:nvPr/>
        </p:nvSpPr>
        <p:spPr>
          <a:xfrm>
            <a:off x="8859960" y="6435720"/>
            <a:ext cx="2426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816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CDEACFE-1CFA-418A-A004-8FC0C0A65738}" type="slidenum"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60360" y="249120"/>
            <a:ext cx="1838160" cy="65304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1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ADVANTAGES</a:t>
            </a:r>
            <a:endParaRPr lang="en-US" sz="2100" b="0" strike="noStrike" spc="-1">
              <a:solidFill>
                <a:srgbClr val="1F497D"/>
              </a:solidFill>
              <a:latin typeface="Calibri"/>
            </a:endParaRPr>
          </a:p>
        </p:txBody>
      </p:sp>
      <p:pic>
        <p:nvPicPr>
          <p:cNvPr id="83" name="object 3"/>
          <p:cNvPicPr/>
          <p:nvPr/>
        </p:nvPicPr>
        <p:blipFill>
          <a:blip r:embed="rId2"/>
          <a:stretch/>
        </p:blipFill>
        <p:spPr>
          <a:xfrm>
            <a:off x="8317080" y="11160"/>
            <a:ext cx="610920" cy="608040"/>
          </a:xfrm>
          <a:prstGeom prst="rect">
            <a:avLst/>
          </a:prstGeom>
          <a:ln w="0">
            <a:noFill/>
          </a:ln>
        </p:spPr>
      </p:pic>
      <p:sp>
        <p:nvSpPr>
          <p:cNvPr id="84" name="object 4"/>
          <p:cNvSpPr/>
          <p:nvPr/>
        </p:nvSpPr>
        <p:spPr>
          <a:xfrm>
            <a:off x="436680" y="1095480"/>
            <a:ext cx="7099200" cy="266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228600" indent="-2160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buFont typeface="Liberation Sans"/>
              <a:buAutoNum type="arabicParenR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Improves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Security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–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Tracks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wrong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attempts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and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quickly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detects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intrusion.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lnSpc>
                <a:spcPct val="100000"/>
              </a:lnSpc>
              <a:buClr>
                <a:srgbClr val="000000"/>
              </a:buClr>
              <a:buFont typeface="Liberation Sans"/>
              <a:buAutoNum type="arabicParenR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lnSpc>
                <a:spcPct val="100000"/>
              </a:lnSpc>
              <a:buClr>
                <a:srgbClr val="000000"/>
              </a:buClr>
              <a:buFont typeface="Liberation Sans"/>
              <a:buAutoNum type="arabicParenR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Instant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Alerts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–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Owner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gets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immediate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notification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through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IoT.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lnSpc>
                <a:spcPct val="100000"/>
              </a:lnSpc>
              <a:buClr>
                <a:srgbClr val="000000"/>
              </a:buClr>
              <a:buFont typeface="Liberation Sans"/>
              <a:buAutoNum type="arabicParenR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lnSpc>
                <a:spcPct val="100000"/>
              </a:lnSpc>
              <a:buClr>
                <a:srgbClr val="000000"/>
              </a:buClr>
              <a:buFont typeface="Liberation Sans"/>
              <a:buAutoNum type="arabicParenR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Prevents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Brute-Force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Attacks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–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Blocks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after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repeated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wrong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attempts.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lnSpc>
                <a:spcPct val="100000"/>
              </a:lnSpc>
              <a:buClr>
                <a:srgbClr val="000000"/>
              </a:buClr>
              <a:buFont typeface="Liberation Sans"/>
              <a:buAutoNum type="arabicParenR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lnSpc>
                <a:spcPct val="100000"/>
              </a:lnSpc>
              <a:buClr>
                <a:srgbClr val="000000"/>
              </a:buClr>
              <a:buFont typeface="Liberation Sans"/>
              <a:buAutoNum type="arabicParenR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Real-Time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Monitoring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–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Continuously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watches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all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login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activity.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lnSpc>
                <a:spcPct val="100000"/>
              </a:lnSpc>
              <a:buClr>
                <a:srgbClr val="000000"/>
              </a:buClr>
              <a:buFont typeface="Liberation Sans"/>
              <a:buAutoNum type="arabicParenR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lnSpc>
                <a:spcPct val="100000"/>
              </a:lnSpc>
              <a:buClr>
                <a:srgbClr val="000000"/>
              </a:buClr>
              <a:buFont typeface="Liberation Sans"/>
              <a:buAutoNum type="arabicParenR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Easy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Use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–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Simple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design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makes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it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easy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understand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and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operate.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lnSpc>
                <a:spcPct val="100000"/>
              </a:lnSpc>
              <a:buClr>
                <a:srgbClr val="000000"/>
              </a:buClr>
              <a:buFont typeface="Liberation Sans"/>
              <a:buAutoNum type="arabicParenR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16000">
              <a:lnSpc>
                <a:spcPct val="100000"/>
              </a:lnSpc>
              <a:buClr>
                <a:srgbClr val="000000"/>
              </a:buClr>
              <a:buFont typeface="Liberation Sans"/>
              <a:buAutoNum type="arabicParenR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Low-Cost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Implementation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–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Uses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affordable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hardware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like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 </a:t>
            </a: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Arduino , Relay.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object 5"/>
          <p:cNvSpPr/>
          <p:nvPr/>
        </p:nvSpPr>
        <p:spPr>
          <a:xfrm>
            <a:off x="6642000" y="6377040"/>
            <a:ext cx="143352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2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AGPIT,</a:t>
            </a:r>
            <a:r>
              <a:rPr lang="en-US" sz="1200" b="0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SOLAPUR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object 6"/>
          <p:cNvSpPr/>
          <p:nvPr/>
        </p:nvSpPr>
        <p:spPr>
          <a:xfrm>
            <a:off x="8859960" y="6435720"/>
            <a:ext cx="2426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816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DDBBB4C-7C73-429C-A7D8-B1EE78A28C42}" type="slidenum"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60360" y="249120"/>
            <a:ext cx="1822320" cy="65304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 algn="ctr">
              <a:lnSpc>
                <a:spcPct val="100000"/>
              </a:lnSpc>
              <a:spcBef>
                <a:spcPts val="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100" b="1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LIMITATIONS</a:t>
            </a:r>
            <a:endParaRPr lang="en-US" sz="2100" b="0" strike="noStrike" spc="-1">
              <a:solidFill>
                <a:srgbClr val="1F497D"/>
              </a:solidFill>
              <a:latin typeface="Calibri"/>
            </a:endParaRPr>
          </a:p>
        </p:txBody>
      </p:sp>
      <p:pic>
        <p:nvPicPr>
          <p:cNvPr id="88" name="object 3"/>
          <p:cNvPicPr/>
          <p:nvPr/>
        </p:nvPicPr>
        <p:blipFill>
          <a:blip r:embed="rId2"/>
          <a:stretch/>
        </p:blipFill>
        <p:spPr>
          <a:xfrm>
            <a:off x="8317080" y="11160"/>
            <a:ext cx="610920" cy="608040"/>
          </a:xfrm>
          <a:prstGeom prst="rect">
            <a:avLst/>
          </a:prstGeom>
          <a:ln w="0">
            <a:noFill/>
          </a:ln>
        </p:spPr>
      </p:pic>
      <p:sp>
        <p:nvSpPr>
          <p:cNvPr id="89" name="object 4"/>
          <p:cNvSpPr/>
          <p:nvPr/>
        </p:nvSpPr>
        <p:spPr>
          <a:xfrm>
            <a:off x="436680" y="1095480"/>
            <a:ext cx="8213760" cy="19055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buClr>
                <a:srgbClr val="000000"/>
              </a:buClr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1) Internet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Dependency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–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IoT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alerts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will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not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work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if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internet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connection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is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weak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or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unavailable.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7"/>
              </a:spcBef>
              <a:buClr>
                <a:srgbClr val="000000"/>
              </a:buClr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900" b="0" strike="noStrike" spc="-1" dirty="0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1573"/>
              </a:lnSpc>
              <a:buClr>
                <a:srgbClr val="000000"/>
              </a:buClr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2)Single </a:t>
            </a:r>
            <a:r>
              <a:rPr lang="en-US" sz="1400" b="1" spc="-1" dirty="0">
                <a:solidFill>
                  <a:srgbClr val="000000"/>
                </a:solidFill>
                <a:ea typeface="Arial"/>
              </a:rPr>
              <a:t>admin system – </a:t>
            </a:r>
            <a:r>
              <a:rPr lang="en-US" sz="1400" spc="-1" dirty="0">
                <a:solidFill>
                  <a:srgbClr val="000000"/>
                </a:solidFill>
                <a:ea typeface="Arial"/>
              </a:rPr>
              <a:t>System is currently designed for one administrator </a:t>
            </a:r>
            <a:r>
              <a:rPr lang="en-US" sz="1400" strike="noStrike" spc="-1" dirty="0">
                <a:solidFill>
                  <a:srgbClr val="000000"/>
                </a:solidFill>
                <a:latin typeface="Arial"/>
                <a:ea typeface="Arial"/>
              </a:rPr>
              <a:t>.</a:t>
            </a:r>
            <a:endParaRPr lang="en-US" sz="140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16000">
              <a:lnSpc>
                <a:spcPct val="100000"/>
              </a:lnSpc>
              <a:spcBef>
                <a:spcPts val="26"/>
              </a:spcBef>
              <a:buClr>
                <a:srgbClr val="000000"/>
              </a:buClr>
              <a:buFont typeface="Liberation Sans"/>
              <a:buAutoNum type="arabicParenR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700" b="0" strike="noStrike" spc="-1" dirty="0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buClr>
                <a:srgbClr val="000000"/>
              </a:buClr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3) Hardware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Failure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–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Arduino,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relay,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or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bulb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malfunction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can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stop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the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physical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alert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system.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16000">
              <a:lnSpc>
                <a:spcPct val="100000"/>
              </a:lnSpc>
              <a:spcBef>
                <a:spcPts val="26"/>
              </a:spcBef>
              <a:buClr>
                <a:srgbClr val="000000"/>
              </a:buClr>
              <a:buFont typeface="Liberation Sans"/>
              <a:buAutoNum type="arabicParenR"/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900" b="0" strike="noStrike" spc="-1" dirty="0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1573"/>
              </a:lnSpc>
              <a:buClr>
                <a:srgbClr val="000000"/>
              </a:buClr>
              <a:tabLst>
                <a:tab pos="22860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4) Maintenance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Required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–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System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needs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regular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updates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and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monitoring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to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ensure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smooth</a:t>
            </a:r>
            <a:r>
              <a:rPr lang="en-U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functioning.</a:t>
            </a: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object 5"/>
          <p:cNvSpPr/>
          <p:nvPr/>
        </p:nvSpPr>
        <p:spPr>
          <a:xfrm>
            <a:off x="6642000" y="6377040"/>
            <a:ext cx="143352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2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AGPIT,</a:t>
            </a:r>
            <a:r>
              <a:rPr lang="en-US" sz="1200" b="0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SOLAPUR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object 6"/>
          <p:cNvSpPr/>
          <p:nvPr/>
        </p:nvSpPr>
        <p:spPr>
          <a:xfrm>
            <a:off x="8859960" y="6435720"/>
            <a:ext cx="2426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816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9EB5B96-5A76-4725-AEA5-DAF92315DD9D}" type="slidenum"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/>
          </p:nvPr>
        </p:nvSpPr>
        <p:spPr>
          <a:xfrm>
            <a:off x="1697040" y="1174320"/>
            <a:ext cx="5749920" cy="13971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rmAutofit/>
          </a:bodyPr>
          <a:lstStyle/>
          <a:p>
            <a:pPr marL="4680" indent="0" algn="ctr">
              <a:spcBef>
                <a:spcPts val="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"This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project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strengthens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admin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account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protection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by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closely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monitoring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login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activity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responding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quickly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to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suspicious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attempts.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With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immediate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IoT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notifications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automated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blocking,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it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delivers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a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smart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and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efficient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security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layer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for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sensitive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systems.</a:t>
            </a: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Calibri"/>
              </a:rPr>
              <a:t>."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title"/>
          </p:nvPr>
        </p:nvSpPr>
        <p:spPr>
          <a:xfrm>
            <a:off x="228600" y="147600"/>
            <a:ext cx="457200" cy="5745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0" algn="ctr">
              <a:spcBef>
                <a:spcPts val="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strike="noStrike" spc="-1">
                <a:solidFill>
                  <a:srgbClr val="000000"/>
                </a:solidFill>
                <a:latin typeface="Calibri"/>
                <a:ea typeface="Calibri"/>
              </a:rPr>
              <a:t>….</a:t>
            </a:r>
            <a:endParaRPr lang="en-US" sz="3600" b="0" strike="noStrike" spc="-1">
              <a:solidFill>
                <a:srgbClr val="1F497D"/>
              </a:solidFill>
              <a:latin typeface="Calibri"/>
            </a:endParaRPr>
          </a:p>
        </p:txBody>
      </p:sp>
      <p:pic>
        <p:nvPicPr>
          <p:cNvPr id="94" name="object 4"/>
          <p:cNvPicPr/>
          <p:nvPr/>
        </p:nvPicPr>
        <p:blipFill>
          <a:blip r:embed="rId2"/>
          <a:stretch/>
        </p:blipFill>
        <p:spPr>
          <a:xfrm>
            <a:off x="0" y="3232080"/>
            <a:ext cx="9144000" cy="2220840"/>
          </a:xfrm>
          <a:prstGeom prst="rect">
            <a:avLst/>
          </a:prstGeom>
          <a:ln w="0">
            <a:noFill/>
          </a:ln>
        </p:spPr>
      </p:pic>
      <p:pic>
        <p:nvPicPr>
          <p:cNvPr id="95" name="object 5"/>
          <p:cNvPicPr/>
          <p:nvPr/>
        </p:nvPicPr>
        <p:blipFill>
          <a:blip r:embed="rId3"/>
          <a:stretch/>
        </p:blipFill>
        <p:spPr>
          <a:xfrm>
            <a:off x="8317080" y="11160"/>
            <a:ext cx="610920" cy="608040"/>
          </a:xfrm>
          <a:prstGeom prst="rect">
            <a:avLst/>
          </a:prstGeom>
          <a:ln w="0">
            <a:noFill/>
          </a:ln>
        </p:spPr>
      </p:pic>
      <p:sp>
        <p:nvSpPr>
          <p:cNvPr id="96" name="object 6"/>
          <p:cNvSpPr/>
          <p:nvPr/>
        </p:nvSpPr>
        <p:spPr>
          <a:xfrm>
            <a:off x="6642000" y="6377040"/>
            <a:ext cx="143352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08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2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AGPIT,</a:t>
            </a:r>
            <a:r>
              <a:rPr lang="en-US" sz="1200" b="0" strike="noStrike" spc="-1">
                <a:solidFill>
                  <a:srgbClr val="001F5F"/>
                </a:solidFill>
                <a:latin typeface="Times New Roman"/>
                <a:ea typeface="Times New Roman"/>
              </a:rPr>
              <a:t> </a:t>
            </a:r>
            <a:r>
              <a:rPr lang="en-US" sz="1200" b="0" strike="noStrike" spc="-1">
                <a:solidFill>
                  <a:srgbClr val="001F5F"/>
                </a:solidFill>
                <a:latin typeface="Arial Black"/>
                <a:ea typeface="Arial Black"/>
              </a:rPr>
              <a:t>SOLAPUR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object 7"/>
          <p:cNvSpPr/>
          <p:nvPr/>
        </p:nvSpPr>
        <p:spPr>
          <a:xfrm>
            <a:off x="8859960" y="6435720"/>
            <a:ext cx="242640" cy="15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8160">
              <a:lnSpc>
                <a:spcPts val="1236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10101A6-A3C5-4E58-A24B-E3FE27151DF1}" type="slidenum">
              <a:rPr lang="en-US" sz="1200" b="0" strike="noStrike" spc="-1">
                <a:solidFill>
                  <a:srgbClr val="FFFFFF"/>
                </a:solidFill>
                <a:latin typeface="Calibri"/>
                <a:ea typeface="Calibri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1091</Words>
  <Application>Microsoft Office PowerPoint</Application>
  <PresentationFormat>On-screen Show (4:3)</PresentationFormat>
  <Paragraphs>158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Black</vt:lpstr>
      <vt:lpstr>Calibri</vt:lpstr>
      <vt:lpstr>Liberation Sans</vt:lpstr>
      <vt:lpstr>Times New Roman</vt:lpstr>
      <vt:lpstr>Wingdings</vt:lpstr>
      <vt:lpstr>Office</vt:lpstr>
      <vt:lpstr>Office</vt:lpstr>
      <vt:lpstr>PowerPoint Presentation</vt:lpstr>
      <vt:lpstr>CONTENTS</vt:lpstr>
      <vt:lpstr>PROBLEM STATEMENT</vt:lpstr>
      <vt:lpstr>OBJECTIVES</vt:lpstr>
      <vt:lpstr>EXISTING SYSTEM</vt:lpstr>
      <vt:lpstr>PROPOSED SYSTEM</vt:lpstr>
      <vt:lpstr>SYSTEM ARCHITECTURE</vt:lpstr>
      <vt:lpstr>TECHNOLOGIES USED</vt:lpstr>
      <vt:lpstr>METHODOLOGY</vt:lpstr>
      <vt:lpstr>APPLICATIONS</vt:lpstr>
      <vt:lpstr>ADVANTAGES</vt:lpstr>
      <vt:lpstr>LIMITATIONS</vt:lpstr>
      <vt:lpstr>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Jaki Mulani</cp:lastModifiedBy>
  <cp:revision>2</cp:revision>
  <dcterms:modified xsi:type="dcterms:W3CDTF">2026-05-08T01:55:28Z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2026-03-04T18:11:04Z</dcterms:created>
  <dc:creator>Online2PDF.com</dc:creator>
  <dc:description/>
  <dc:language>en-US</dc:language>
  <cp:lastModifiedBy>Jaki Mulani</cp:lastModifiedBy>
  <dcterms:modified xsi:type="dcterms:W3CDTF">2026-03-16T16:38:03Z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2026-03-04T00:00:00Z</vt:filetime>
  </property>
  <property fmtid="{D5CDD505-2E9C-101B-9397-08002B2CF9AE}" pid="3" name="LastSaved">
    <vt:filetime>2026-03-04T00:00:00Z</vt:filetime>
  </property>
</Properties>
</file>